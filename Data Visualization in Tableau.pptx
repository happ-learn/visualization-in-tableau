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mpact" charset="1" panose="020B0806030902050204"/>
      <p:regular r:id="rId17"/>
    </p:embeddedFont>
    <p:embeddedFont>
      <p:font typeface="Quicksand 1 Bold" charset="1" panose="00000800000000000000"/>
      <p:regular r:id="rId18"/>
    </p:embeddedFont>
    <p:embeddedFont>
      <p:font typeface="Quicksand 2 Bold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4.png" Type="http://schemas.openxmlformats.org/officeDocument/2006/relationships/image"/><Relationship Id="rId7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803631" y="4257135"/>
            <a:ext cx="12663483" cy="1626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40"/>
              </a:lnSpc>
            </a:pPr>
            <a:r>
              <a:rPr lang="en-US" sz="1200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PORTFOLIO ASSIGNMENT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20886" y="5598065"/>
            <a:ext cx="12663483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</a:pPr>
            <a:r>
              <a:rPr lang="en-US" sz="3900" b="true">
                <a:solidFill>
                  <a:srgbClr val="262F43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Business Intelligence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0" y="5254355"/>
            <a:ext cx="3019587" cy="5032645"/>
            <a:chOff x="0" y="0"/>
            <a:chExt cx="4026116" cy="6710193"/>
          </a:xfrm>
        </p:grpSpPr>
        <p:sp>
          <p:nvSpPr>
            <p:cNvPr name="Freeform 5" id="5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5268413" y="-266970"/>
            <a:ext cx="3019587" cy="5032645"/>
            <a:chOff x="0" y="0"/>
            <a:chExt cx="4026116" cy="6710193"/>
          </a:xfrm>
        </p:grpSpPr>
        <p:sp>
          <p:nvSpPr>
            <p:cNvPr name="Freeform 15" id="15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" id="23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4" id="24"/>
          <p:cNvSpPr/>
          <p:nvPr/>
        </p:nvSpPr>
        <p:spPr>
          <a:xfrm flipH="false" flipV="false" rot="0">
            <a:off x="7708969" y="1028700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5731233" y="7375889"/>
            <a:ext cx="6808278" cy="789577"/>
            <a:chOff x="0" y="0"/>
            <a:chExt cx="9077704" cy="1052769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337183" y="0"/>
              <a:ext cx="8357324" cy="1052769"/>
              <a:chOff x="0" y="0"/>
              <a:chExt cx="1650829" cy="207954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650829" cy="207954"/>
              </a:xfrm>
              <a:custGeom>
                <a:avLst/>
                <a:gdLst/>
                <a:ahLst/>
                <a:cxnLst/>
                <a:rect r="r" b="b" t="t" l="l"/>
                <a:pathLst>
                  <a:path h="207954" w="1650829">
                    <a:moveTo>
                      <a:pt x="62993" y="0"/>
                    </a:moveTo>
                    <a:lnTo>
                      <a:pt x="1587837" y="0"/>
                    </a:lnTo>
                    <a:cubicBezTo>
                      <a:pt x="1604543" y="0"/>
                      <a:pt x="1620566" y="6637"/>
                      <a:pt x="1632379" y="18450"/>
                    </a:cubicBezTo>
                    <a:cubicBezTo>
                      <a:pt x="1644193" y="30264"/>
                      <a:pt x="1650829" y="46286"/>
                      <a:pt x="1650829" y="62993"/>
                    </a:cubicBezTo>
                    <a:lnTo>
                      <a:pt x="1650829" y="144962"/>
                    </a:lnTo>
                    <a:cubicBezTo>
                      <a:pt x="1650829" y="179752"/>
                      <a:pt x="1622626" y="207954"/>
                      <a:pt x="1587837" y="207954"/>
                    </a:cubicBezTo>
                    <a:lnTo>
                      <a:pt x="62993" y="207954"/>
                    </a:lnTo>
                    <a:cubicBezTo>
                      <a:pt x="46286" y="207954"/>
                      <a:pt x="30264" y="201318"/>
                      <a:pt x="18450" y="189504"/>
                    </a:cubicBezTo>
                    <a:cubicBezTo>
                      <a:pt x="6637" y="177691"/>
                      <a:pt x="0" y="161668"/>
                      <a:pt x="0" y="144962"/>
                    </a:cubicBezTo>
                    <a:lnTo>
                      <a:pt x="0" y="62993"/>
                    </a:lnTo>
                    <a:cubicBezTo>
                      <a:pt x="0" y="46286"/>
                      <a:pt x="6637" y="30264"/>
                      <a:pt x="18450" y="18450"/>
                    </a:cubicBezTo>
                    <a:cubicBezTo>
                      <a:pt x="30264" y="6637"/>
                      <a:pt x="46286" y="0"/>
                      <a:pt x="62993" y="0"/>
                    </a:cubicBezTo>
                    <a:close/>
                  </a:path>
                </a:pathLst>
              </a:custGeom>
              <a:solidFill>
                <a:srgbClr val="1DA3C0">
                  <a:alpha val="48627"/>
                </a:srgbClr>
              </a:solidFill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57150"/>
                <a:ext cx="1650829" cy="2651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1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0" y="198301"/>
              <a:ext cx="9077704" cy="73236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99"/>
                </a:lnSpc>
              </a:pPr>
              <a:r>
                <a:rPr lang="en-US" sz="3999" b="true">
                  <a:solidFill>
                    <a:srgbClr val="262F43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by Kania Tri Hapsari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820886" y="3361404"/>
            <a:ext cx="12663483" cy="581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2"/>
              </a:lnSpc>
            </a:pPr>
            <a:r>
              <a:rPr lang="en-US" sz="3900" b="true">
                <a:solidFill>
                  <a:srgbClr val="262F43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Data Series Fair 17.0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028700" y="418466"/>
            <a:ext cx="47197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17628972" y="5109368"/>
            <a:ext cx="0" cy="4533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591415" y="437516"/>
            <a:ext cx="0" cy="4533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34" id="34"/>
          <p:cNvSpPr/>
          <p:nvPr/>
        </p:nvSpPr>
        <p:spPr>
          <a:xfrm>
            <a:off x="12539511" y="9679941"/>
            <a:ext cx="47197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Bar Chart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05231" y="3249253"/>
            <a:ext cx="9486863" cy="5336361"/>
          </a:xfrm>
          <a:custGeom>
            <a:avLst/>
            <a:gdLst/>
            <a:ahLst/>
            <a:cxnLst/>
            <a:rect r="r" b="b" t="t" l="l"/>
            <a:pathLst>
              <a:path h="5336361" w="9486863">
                <a:moveTo>
                  <a:pt x="0" y="0"/>
                </a:moveTo>
                <a:lnTo>
                  <a:pt x="9486863" y="0"/>
                </a:lnTo>
                <a:lnTo>
                  <a:pt x="9486863" y="5336361"/>
                </a:lnTo>
                <a:lnTo>
                  <a:pt x="0" y="533636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6" id="26"/>
          <p:cNvGrpSpPr/>
          <p:nvPr/>
        </p:nvGrpSpPr>
        <p:grpSpPr>
          <a:xfrm rot="0">
            <a:off x="11680834" y="3249253"/>
            <a:ext cx="5287446" cy="5336361"/>
            <a:chOff x="0" y="0"/>
            <a:chExt cx="1392578" cy="140546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2578" cy="1405461"/>
            </a:xfrm>
            <a:custGeom>
              <a:avLst/>
              <a:gdLst/>
              <a:ahLst/>
              <a:cxnLst/>
              <a:rect r="r" b="b" t="t" l="l"/>
              <a:pathLst>
                <a:path h="1405461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1368856"/>
                  </a:lnTo>
                  <a:cubicBezTo>
                    <a:pt x="1392578" y="1378564"/>
                    <a:pt x="1388722" y="1387875"/>
                    <a:pt x="1381857" y="1394740"/>
                  </a:cubicBezTo>
                  <a:cubicBezTo>
                    <a:pt x="1374992" y="1401605"/>
                    <a:pt x="1365681" y="1405461"/>
                    <a:pt x="1355973" y="1405461"/>
                  </a:cubicBezTo>
                  <a:lnTo>
                    <a:pt x="36605" y="1405461"/>
                  </a:lnTo>
                  <a:cubicBezTo>
                    <a:pt x="16389" y="1405461"/>
                    <a:pt x="0" y="1389072"/>
                    <a:pt x="0" y="1368856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392578" cy="146261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compare sales performance by region.</a:t>
              </a: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Insight: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West region has the highest sales with a percentage of 31,58%.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Meanwhile, South region has the lowest sales with a percentage of 17,05%.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The difference between the highest and the lowest is 333.736.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Line Chart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1680834" y="3249253"/>
            <a:ext cx="5287446" cy="5299796"/>
            <a:chOff x="0" y="0"/>
            <a:chExt cx="1392578" cy="1395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2578" cy="1395831"/>
            </a:xfrm>
            <a:custGeom>
              <a:avLst/>
              <a:gdLst/>
              <a:ahLst/>
              <a:cxnLst/>
              <a:rect r="r" b="b" t="t" l="l"/>
              <a:pathLst>
                <a:path h="1395831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1359226"/>
                  </a:lnTo>
                  <a:cubicBezTo>
                    <a:pt x="1392578" y="1379442"/>
                    <a:pt x="1376190" y="1395831"/>
                    <a:pt x="1355973" y="1395831"/>
                  </a:cubicBezTo>
                  <a:lnTo>
                    <a:pt x="36605" y="1395831"/>
                  </a:lnTo>
                  <a:cubicBezTo>
                    <a:pt x="26897" y="1395831"/>
                    <a:pt x="17586" y="1391974"/>
                    <a:pt x="10721" y="1385110"/>
                  </a:cubicBezTo>
                  <a:cubicBezTo>
                    <a:pt x="3857" y="1378245"/>
                    <a:pt x="0" y="1368934"/>
                    <a:pt x="0" y="1359226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92578" cy="14529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show the relationship between sales and profit. </a:t>
              </a: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It shows the distribution in quarters of order date.</a:t>
              </a: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Insight: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The highest sales occurred in the fourth quarter of 2021 with a profit of 27k. 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The highest profit occurred in the fourth quarter of 2020 with the second highest sales of 236k.  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Histogram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680834" y="4808747"/>
            <a:ext cx="5287446" cy="2180808"/>
            <a:chOff x="0" y="0"/>
            <a:chExt cx="1392578" cy="57436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92578" cy="574369"/>
            </a:xfrm>
            <a:custGeom>
              <a:avLst/>
              <a:gdLst/>
              <a:ahLst/>
              <a:cxnLst/>
              <a:rect r="r" b="b" t="t" l="l"/>
              <a:pathLst>
                <a:path h="574369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537764"/>
                  </a:lnTo>
                  <a:cubicBezTo>
                    <a:pt x="1392578" y="547472"/>
                    <a:pt x="1388722" y="556783"/>
                    <a:pt x="1381857" y="563648"/>
                  </a:cubicBezTo>
                  <a:cubicBezTo>
                    <a:pt x="1374992" y="570513"/>
                    <a:pt x="1365681" y="574369"/>
                    <a:pt x="1355973" y="574369"/>
                  </a:cubicBezTo>
                  <a:lnTo>
                    <a:pt x="36605" y="574369"/>
                  </a:lnTo>
                  <a:cubicBezTo>
                    <a:pt x="16389" y="574369"/>
                    <a:pt x="0" y="557980"/>
                    <a:pt x="0" y="537764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1392578" cy="631519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show the distribution of orders by quantity.</a:t>
              </a: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Box Plot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1680834" y="3249253"/>
            <a:ext cx="5287446" cy="5336361"/>
            <a:chOff x="0" y="0"/>
            <a:chExt cx="1392578" cy="140546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2578" cy="1405461"/>
            </a:xfrm>
            <a:custGeom>
              <a:avLst/>
              <a:gdLst/>
              <a:ahLst/>
              <a:cxnLst/>
              <a:rect r="r" b="b" t="t" l="l"/>
              <a:pathLst>
                <a:path h="1405461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1368856"/>
                  </a:lnTo>
                  <a:cubicBezTo>
                    <a:pt x="1392578" y="1378564"/>
                    <a:pt x="1388722" y="1387875"/>
                    <a:pt x="1381857" y="1394740"/>
                  </a:cubicBezTo>
                  <a:cubicBezTo>
                    <a:pt x="1374992" y="1401605"/>
                    <a:pt x="1365681" y="1405461"/>
                    <a:pt x="1355973" y="1405461"/>
                  </a:cubicBezTo>
                  <a:lnTo>
                    <a:pt x="36605" y="1405461"/>
                  </a:lnTo>
                  <a:cubicBezTo>
                    <a:pt x="16389" y="1405461"/>
                    <a:pt x="0" y="1389072"/>
                    <a:pt x="0" y="1368856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92578" cy="146261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show the distribution of discount by segment and region.</a:t>
              </a: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Insight: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</a:t>
              </a: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n the central region, both customer and corporate segments, have the highest discounts. 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 the west region, all of the segments have the lowest discounts.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Scatter Plot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1680834" y="4676003"/>
            <a:ext cx="5287446" cy="2446296"/>
            <a:chOff x="0" y="0"/>
            <a:chExt cx="1392578" cy="64429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2578" cy="644292"/>
            </a:xfrm>
            <a:custGeom>
              <a:avLst/>
              <a:gdLst/>
              <a:ahLst/>
              <a:cxnLst/>
              <a:rect r="r" b="b" t="t" l="l"/>
              <a:pathLst>
                <a:path h="644292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607687"/>
                  </a:lnTo>
                  <a:cubicBezTo>
                    <a:pt x="1392578" y="617395"/>
                    <a:pt x="1388722" y="626706"/>
                    <a:pt x="1381857" y="633571"/>
                  </a:cubicBezTo>
                  <a:cubicBezTo>
                    <a:pt x="1374992" y="640435"/>
                    <a:pt x="1365681" y="644292"/>
                    <a:pt x="1355973" y="644292"/>
                  </a:cubicBezTo>
                  <a:lnTo>
                    <a:pt x="36605" y="644292"/>
                  </a:lnTo>
                  <a:cubicBezTo>
                    <a:pt x="16389" y="644292"/>
                    <a:pt x="0" y="627903"/>
                    <a:pt x="0" y="607687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92578" cy="701442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visualize the relationship between profit and sales.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Gantt Chart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1680834" y="4466731"/>
            <a:ext cx="5287446" cy="2864840"/>
            <a:chOff x="0" y="0"/>
            <a:chExt cx="1392578" cy="7545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2578" cy="754526"/>
            </a:xfrm>
            <a:custGeom>
              <a:avLst/>
              <a:gdLst/>
              <a:ahLst/>
              <a:cxnLst/>
              <a:rect r="r" b="b" t="t" l="l"/>
              <a:pathLst>
                <a:path h="754526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717921"/>
                  </a:lnTo>
                  <a:cubicBezTo>
                    <a:pt x="1392578" y="727629"/>
                    <a:pt x="1388722" y="736940"/>
                    <a:pt x="1381857" y="743804"/>
                  </a:cubicBezTo>
                  <a:cubicBezTo>
                    <a:pt x="1374992" y="750669"/>
                    <a:pt x="1365681" y="754526"/>
                    <a:pt x="1355973" y="754526"/>
                  </a:cubicBezTo>
                  <a:lnTo>
                    <a:pt x="36605" y="754526"/>
                  </a:lnTo>
                  <a:cubicBezTo>
                    <a:pt x="26897" y="754526"/>
                    <a:pt x="17586" y="750669"/>
                    <a:pt x="10721" y="743804"/>
                  </a:cubicBezTo>
                  <a:cubicBezTo>
                    <a:pt x="3857" y="736940"/>
                    <a:pt x="0" y="727629"/>
                    <a:pt x="0" y="717921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92578" cy="811676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show the duration of order. It shows a project's timeline and tasks, which helps teams to manage and track projects.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Map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680834" y="3249253"/>
            <a:ext cx="5287446" cy="5299796"/>
            <a:chOff x="0" y="0"/>
            <a:chExt cx="1392578" cy="1395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392578" cy="1395831"/>
            </a:xfrm>
            <a:custGeom>
              <a:avLst/>
              <a:gdLst/>
              <a:ahLst/>
              <a:cxnLst/>
              <a:rect r="r" b="b" t="t" l="l"/>
              <a:pathLst>
                <a:path h="1395831" w="1392578">
                  <a:moveTo>
                    <a:pt x="36605" y="0"/>
                  </a:moveTo>
                  <a:lnTo>
                    <a:pt x="1355973" y="0"/>
                  </a:lnTo>
                  <a:cubicBezTo>
                    <a:pt x="1365681" y="0"/>
                    <a:pt x="1374992" y="3857"/>
                    <a:pt x="1381857" y="10721"/>
                  </a:cubicBezTo>
                  <a:cubicBezTo>
                    <a:pt x="1388722" y="17586"/>
                    <a:pt x="1392578" y="26897"/>
                    <a:pt x="1392578" y="36605"/>
                  </a:cubicBezTo>
                  <a:lnTo>
                    <a:pt x="1392578" y="1359226"/>
                  </a:lnTo>
                  <a:cubicBezTo>
                    <a:pt x="1392578" y="1379442"/>
                    <a:pt x="1376190" y="1395831"/>
                    <a:pt x="1355973" y="1395831"/>
                  </a:cubicBezTo>
                  <a:lnTo>
                    <a:pt x="36605" y="1395831"/>
                  </a:lnTo>
                  <a:cubicBezTo>
                    <a:pt x="26897" y="1395831"/>
                    <a:pt x="17586" y="1391974"/>
                    <a:pt x="10721" y="1385110"/>
                  </a:cubicBezTo>
                  <a:cubicBezTo>
                    <a:pt x="3857" y="1378245"/>
                    <a:pt x="0" y="1368934"/>
                    <a:pt x="0" y="1359226"/>
                  </a:cubicBezTo>
                  <a:lnTo>
                    <a:pt x="0" y="36605"/>
                  </a:lnTo>
                  <a:cubicBezTo>
                    <a:pt x="0" y="26897"/>
                    <a:pt x="3857" y="17586"/>
                    <a:pt x="10721" y="10721"/>
                  </a:cubicBezTo>
                  <a:cubicBezTo>
                    <a:pt x="17586" y="3857"/>
                    <a:pt x="26897" y="0"/>
                    <a:pt x="36605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392578" cy="14529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show the distribution of sales by region.</a:t>
              </a: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Insight: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California has the highest sales in United States.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Some states have the lowest sales, such as North Dakota, South Dakota, West Virginia, and Maine.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7190642" y="1306162"/>
            <a:ext cx="3906715" cy="1034562"/>
            <a:chOff x="0" y="0"/>
            <a:chExt cx="1028929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28929" cy="272477"/>
            </a:xfrm>
            <a:custGeom>
              <a:avLst/>
              <a:gdLst/>
              <a:ahLst/>
              <a:cxnLst/>
              <a:rect r="r" b="b" t="t" l="l"/>
              <a:pathLst>
                <a:path h="272477" w="1028929">
                  <a:moveTo>
                    <a:pt x="101066" y="0"/>
                  </a:moveTo>
                  <a:lnTo>
                    <a:pt x="927863" y="0"/>
                  </a:lnTo>
                  <a:cubicBezTo>
                    <a:pt x="983680" y="0"/>
                    <a:pt x="1028929" y="45249"/>
                    <a:pt x="1028929" y="101066"/>
                  </a:cubicBezTo>
                  <a:lnTo>
                    <a:pt x="1028929" y="171411"/>
                  </a:lnTo>
                  <a:cubicBezTo>
                    <a:pt x="1028929" y="227228"/>
                    <a:pt x="983680" y="272477"/>
                    <a:pt x="927863" y="272477"/>
                  </a:cubicBezTo>
                  <a:lnTo>
                    <a:pt x="101066" y="272477"/>
                  </a:lnTo>
                  <a:cubicBezTo>
                    <a:pt x="45249" y="272477"/>
                    <a:pt x="0" y="227228"/>
                    <a:pt x="0" y="171411"/>
                  </a:cubicBezTo>
                  <a:lnTo>
                    <a:pt x="0" y="101066"/>
                  </a:lnTo>
                  <a:cubicBezTo>
                    <a:pt x="0" y="45249"/>
                    <a:pt x="45249" y="0"/>
                    <a:pt x="101066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1028929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Tree Map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305231" y="3249253"/>
            <a:ext cx="9421859" cy="5299796"/>
          </a:xfrm>
          <a:custGeom>
            <a:avLst/>
            <a:gdLst/>
            <a:ahLst/>
            <a:cxnLst/>
            <a:rect r="r" b="b" t="t" l="l"/>
            <a:pathLst>
              <a:path h="5299796" w="9421859">
                <a:moveTo>
                  <a:pt x="0" y="0"/>
                </a:moveTo>
                <a:lnTo>
                  <a:pt x="9421858" y="0"/>
                </a:lnTo>
                <a:lnTo>
                  <a:pt x="9421858" y="5299796"/>
                </a:lnTo>
                <a:lnTo>
                  <a:pt x="0" y="52997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grpSp>
        <p:nvGrpSpPr>
          <p:cNvPr name="Group 27" id="27"/>
          <p:cNvGrpSpPr/>
          <p:nvPr/>
        </p:nvGrpSpPr>
        <p:grpSpPr>
          <a:xfrm rot="0">
            <a:off x="11442204" y="3249253"/>
            <a:ext cx="5526075" cy="5299796"/>
            <a:chOff x="0" y="0"/>
            <a:chExt cx="1455427" cy="139583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55427" cy="1395831"/>
            </a:xfrm>
            <a:custGeom>
              <a:avLst/>
              <a:gdLst/>
              <a:ahLst/>
              <a:cxnLst/>
              <a:rect r="r" b="b" t="t" l="l"/>
              <a:pathLst>
                <a:path h="1395831" w="1455427">
                  <a:moveTo>
                    <a:pt x="35024" y="0"/>
                  </a:moveTo>
                  <a:lnTo>
                    <a:pt x="1420403" y="0"/>
                  </a:lnTo>
                  <a:cubicBezTo>
                    <a:pt x="1429692" y="0"/>
                    <a:pt x="1438600" y="3690"/>
                    <a:pt x="1445169" y="10258"/>
                  </a:cubicBezTo>
                  <a:cubicBezTo>
                    <a:pt x="1451737" y="16827"/>
                    <a:pt x="1455427" y="25735"/>
                    <a:pt x="1455427" y="35024"/>
                  </a:cubicBezTo>
                  <a:lnTo>
                    <a:pt x="1455427" y="1360806"/>
                  </a:lnTo>
                  <a:cubicBezTo>
                    <a:pt x="1455427" y="1380150"/>
                    <a:pt x="1439746" y="1395831"/>
                    <a:pt x="1420403" y="1395831"/>
                  </a:cubicBezTo>
                  <a:lnTo>
                    <a:pt x="35024" y="1395831"/>
                  </a:lnTo>
                  <a:cubicBezTo>
                    <a:pt x="15681" y="1395831"/>
                    <a:pt x="0" y="1380150"/>
                    <a:pt x="0" y="1360806"/>
                  </a:cubicBezTo>
                  <a:lnTo>
                    <a:pt x="0" y="35024"/>
                  </a:lnTo>
                  <a:cubicBezTo>
                    <a:pt x="0" y="15681"/>
                    <a:pt x="15681" y="0"/>
                    <a:pt x="35024" y="0"/>
                  </a:cubicBezTo>
                  <a:close/>
                </a:path>
              </a:pathLst>
            </a:custGeom>
            <a:solidFill>
              <a:srgbClr val="1DA3C0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57150"/>
              <a:ext cx="1455427" cy="1452981"/>
            </a:xfrm>
            <a:prstGeom prst="rect">
              <a:avLst/>
            </a:prstGeom>
          </p:spPr>
          <p:txBody>
            <a:bodyPr anchor="ctr" rtlCol="false" tIns="254000" lIns="254000" bIns="254000" rIns="254000"/>
            <a:lstStyle/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This chart are used to display such as categories and data proportions.</a:t>
              </a:r>
            </a:p>
            <a:p>
              <a:pPr algn="l">
                <a:lnSpc>
                  <a:spcPts val="3219"/>
                </a:lnSpc>
              </a:pPr>
              <a:r>
                <a:rPr lang="en-US" sz="2299" b="true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Insight: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Phones under technology category has the highest sales and fasteners under office supplies has the lowest sales.</a:t>
              </a:r>
            </a:p>
            <a:p>
              <a:pPr algn="l" marL="496567" indent="-248284" lvl="1">
                <a:lnSpc>
                  <a:spcPts val="3219"/>
                </a:lnSpc>
                <a:buAutoNum type="arabicPeriod" startAt="1"/>
              </a:pPr>
              <a:r>
                <a:rPr lang="en-US" b="true" sz="2299">
                  <a:solidFill>
                    <a:srgbClr val="FFFFFF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By the color gradient, copiers under technology category has the highest profit and tables under furniture category has the lowest.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4563" y="6404806"/>
            <a:ext cx="3019587" cy="5032645"/>
            <a:chOff x="0" y="0"/>
            <a:chExt cx="4026116" cy="6710193"/>
          </a:xfrm>
        </p:grpSpPr>
        <p:sp>
          <p:nvSpPr>
            <p:cNvPr name="Freeform 3" id="3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5458486" y="-1210161"/>
            <a:ext cx="3019587" cy="5032645"/>
            <a:chOff x="0" y="0"/>
            <a:chExt cx="4026116" cy="6710193"/>
          </a:xfrm>
        </p:grpSpPr>
        <p:sp>
          <p:nvSpPr>
            <p:cNvPr name="Freeform 13" id="13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4531078" y="1028700"/>
            <a:ext cx="9225844" cy="1034562"/>
            <a:chOff x="0" y="0"/>
            <a:chExt cx="2429852" cy="272477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429852" cy="272477"/>
            </a:xfrm>
            <a:custGeom>
              <a:avLst/>
              <a:gdLst/>
              <a:ahLst/>
              <a:cxnLst/>
              <a:rect r="r" b="b" t="t" l="l"/>
              <a:pathLst>
                <a:path h="272477" w="2429852">
                  <a:moveTo>
                    <a:pt x="42797" y="0"/>
                  </a:moveTo>
                  <a:lnTo>
                    <a:pt x="2387055" y="0"/>
                  </a:lnTo>
                  <a:cubicBezTo>
                    <a:pt x="2410691" y="0"/>
                    <a:pt x="2429852" y="19161"/>
                    <a:pt x="2429852" y="42797"/>
                  </a:cubicBezTo>
                  <a:lnTo>
                    <a:pt x="2429852" y="229680"/>
                  </a:lnTo>
                  <a:cubicBezTo>
                    <a:pt x="2429852" y="241031"/>
                    <a:pt x="2425343" y="251916"/>
                    <a:pt x="2417317" y="259942"/>
                  </a:cubicBezTo>
                  <a:cubicBezTo>
                    <a:pt x="2409291" y="267968"/>
                    <a:pt x="2398406" y="272477"/>
                    <a:pt x="2387055" y="272477"/>
                  </a:cubicBezTo>
                  <a:lnTo>
                    <a:pt x="42797" y="272477"/>
                  </a:lnTo>
                  <a:cubicBezTo>
                    <a:pt x="31446" y="272477"/>
                    <a:pt x="20561" y="267968"/>
                    <a:pt x="12535" y="259942"/>
                  </a:cubicBezTo>
                  <a:cubicBezTo>
                    <a:pt x="4509" y="251916"/>
                    <a:pt x="0" y="241031"/>
                    <a:pt x="0" y="229680"/>
                  </a:cubicBezTo>
                  <a:lnTo>
                    <a:pt x="0" y="42797"/>
                  </a:lnTo>
                  <a:cubicBezTo>
                    <a:pt x="0" y="31446"/>
                    <a:pt x="4509" y="20561"/>
                    <a:pt x="12535" y="12535"/>
                  </a:cubicBezTo>
                  <a:cubicBezTo>
                    <a:pt x="20561" y="4509"/>
                    <a:pt x="31446" y="0"/>
                    <a:pt x="42797" y="0"/>
                  </a:cubicBezTo>
                  <a:close/>
                </a:path>
              </a:pathLst>
            </a:custGeom>
            <a:solidFill>
              <a:srgbClr val="335F8C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85725"/>
              <a:ext cx="2429852" cy="3582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b="true" sz="4099">
                  <a:solidFill>
                    <a:srgbClr val="F7F7F8"/>
                  </a:solidFill>
                  <a:latin typeface="Quicksand 2 Bold"/>
                  <a:ea typeface="Quicksand 2 Bold"/>
                  <a:cs typeface="Quicksand 2 Bold"/>
                  <a:sym typeface="Quicksand 2 Bold"/>
                </a:rPr>
                <a:t>Dashboard of Data Visualization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4473985" y="2253277"/>
            <a:ext cx="9340031" cy="7005023"/>
          </a:xfrm>
          <a:custGeom>
            <a:avLst/>
            <a:gdLst/>
            <a:ahLst/>
            <a:cxnLst/>
            <a:rect r="r" b="b" t="t" l="l"/>
            <a:pathLst>
              <a:path h="7005023" w="9340031">
                <a:moveTo>
                  <a:pt x="0" y="0"/>
                </a:moveTo>
                <a:lnTo>
                  <a:pt x="9340030" y="0"/>
                </a:lnTo>
                <a:lnTo>
                  <a:pt x="9340030" y="7005023"/>
                </a:lnTo>
                <a:lnTo>
                  <a:pt x="0" y="70050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9255" t="-9996" r="-29625" b="-9164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26" id="26"/>
          <p:cNvSpPr/>
          <p:nvPr/>
        </p:nvSpPr>
        <p:spPr>
          <a:xfrm flipH="false" flipV="false" rot="0">
            <a:off x="1028700" y="594897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6" y="0"/>
                </a:lnTo>
                <a:lnTo>
                  <a:pt x="2852806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0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09793" y="1343025"/>
            <a:ext cx="10175471" cy="4473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17"/>
              </a:lnSpc>
            </a:pPr>
            <a:r>
              <a:rPr lang="en-US" sz="1868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THANK</a:t>
            </a:r>
          </a:p>
          <a:p>
            <a:pPr algn="l">
              <a:lnSpc>
                <a:spcPts val="15317"/>
              </a:lnSpc>
            </a:pPr>
            <a:r>
              <a:rPr lang="en-US" sz="18680">
                <a:solidFill>
                  <a:srgbClr val="262F43"/>
                </a:solidFill>
                <a:latin typeface="Impact"/>
                <a:ea typeface="Impact"/>
                <a:cs typeface="Impact"/>
                <a:sym typeface="Impact"/>
              </a:rPr>
              <a:t>YOU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0" y="5254355"/>
            <a:ext cx="3019587" cy="5032645"/>
            <a:chOff x="0" y="0"/>
            <a:chExt cx="4026116" cy="6710193"/>
          </a:xfrm>
        </p:grpSpPr>
        <p:sp>
          <p:nvSpPr>
            <p:cNvPr name="Freeform 4" id="4"/>
            <p:cNvSpPr/>
            <p:nvPr/>
          </p:nvSpPr>
          <p:spPr>
            <a:xfrm flipH="true" flipV="true" rot="0">
              <a:off x="0" y="5368154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4026116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true" flipV="true" rot="-1080000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-10800000">
              <a:off x="0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true" rot="0">
              <a:off x="1342039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tru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0"/>
                  </a:moveTo>
                  <a:lnTo>
                    <a:pt x="1342039" y="0"/>
                  </a:lnTo>
                  <a:lnTo>
                    <a:pt x="1342039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true" flipV="false" rot="-10800000">
              <a:off x="2684077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0"/>
                  </a:moveTo>
                  <a:lnTo>
                    <a:pt x="0" y="0"/>
                  </a:lnTo>
                  <a:lnTo>
                    <a:pt x="0" y="1342039"/>
                  </a:lnTo>
                  <a:lnTo>
                    <a:pt x="1342039" y="1342039"/>
                  </a:lnTo>
                  <a:lnTo>
                    <a:pt x="1342039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5268413" y="-266970"/>
            <a:ext cx="3019587" cy="5032645"/>
            <a:chOff x="0" y="0"/>
            <a:chExt cx="4026116" cy="6710193"/>
          </a:xfrm>
        </p:grpSpPr>
        <p:sp>
          <p:nvSpPr>
            <p:cNvPr name="Freeform 14" id="14"/>
            <p:cNvSpPr/>
            <p:nvPr/>
          </p:nvSpPr>
          <p:spPr>
            <a:xfrm flipH="true" flipV="true" rot="-10800000">
              <a:off x="2684077" y="0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9"/>
                  </a:moveTo>
                  <a:lnTo>
                    <a:pt x="0" y="1342039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-10800000">
              <a:off x="0" y="0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-10800000">
              <a:off x="1342039" y="1342039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8"/>
                  </a:lnTo>
                  <a:lnTo>
                    <a:pt x="0" y="13420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true" flipV="true" rot="0">
              <a:off x="2684077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42039" y="2684077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0"/>
                  </a:moveTo>
                  <a:lnTo>
                    <a:pt x="2684077" y="0"/>
                  </a:lnTo>
                  <a:lnTo>
                    <a:pt x="2684077" y="1342039"/>
                  </a:lnTo>
                  <a:lnTo>
                    <a:pt x="0" y="13420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true" rot="-10800000">
              <a:off x="1342039" y="4026116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8"/>
                  </a:moveTo>
                  <a:lnTo>
                    <a:pt x="1342038" y="1342038"/>
                  </a:lnTo>
                  <a:lnTo>
                    <a:pt x="1342038" y="0"/>
                  </a:lnTo>
                  <a:lnTo>
                    <a:pt x="0" y="0"/>
                  </a:lnTo>
                  <a:lnTo>
                    <a:pt x="0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true" rot="0">
              <a:off x="1342039" y="5368154"/>
              <a:ext cx="2684077" cy="1342039"/>
            </a:xfrm>
            <a:custGeom>
              <a:avLst/>
              <a:gdLst/>
              <a:ahLst/>
              <a:cxnLst/>
              <a:rect r="r" b="b" t="t" l="l"/>
              <a:pathLst>
                <a:path h="1342039" w="2684077">
                  <a:moveTo>
                    <a:pt x="0" y="1342039"/>
                  </a:moveTo>
                  <a:lnTo>
                    <a:pt x="2684077" y="1342039"/>
                  </a:lnTo>
                  <a:lnTo>
                    <a:pt x="2684077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true" flipV="true" rot="0">
              <a:off x="0" y="1342039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1342039" y="1342038"/>
                  </a:moveTo>
                  <a:lnTo>
                    <a:pt x="0" y="1342038"/>
                  </a:lnTo>
                  <a:lnTo>
                    <a:pt x="0" y="0"/>
                  </a:lnTo>
                  <a:lnTo>
                    <a:pt x="1342039" y="0"/>
                  </a:lnTo>
                  <a:lnTo>
                    <a:pt x="1342039" y="1342038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true" rot="-10800000">
              <a:off x="0" y="2684077"/>
              <a:ext cx="1342039" cy="1342039"/>
            </a:xfrm>
            <a:custGeom>
              <a:avLst/>
              <a:gdLst/>
              <a:ahLst/>
              <a:cxnLst/>
              <a:rect r="r" b="b" t="t" l="l"/>
              <a:pathLst>
                <a:path h="1342039" w="1342039">
                  <a:moveTo>
                    <a:pt x="0" y="1342039"/>
                  </a:moveTo>
                  <a:lnTo>
                    <a:pt x="1342039" y="1342039"/>
                  </a:lnTo>
                  <a:lnTo>
                    <a:pt x="1342039" y="0"/>
                  </a:lnTo>
                  <a:lnTo>
                    <a:pt x="0" y="0"/>
                  </a:lnTo>
                  <a:lnTo>
                    <a:pt x="0" y="1342039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2237709" y="1028700"/>
            <a:ext cx="2852806" cy="867606"/>
          </a:xfrm>
          <a:custGeom>
            <a:avLst/>
            <a:gdLst/>
            <a:ahLst/>
            <a:cxnLst/>
            <a:rect r="r" b="b" t="t" l="l"/>
            <a:pathLst>
              <a:path h="867606" w="2852806">
                <a:moveTo>
                  <a:pt x="0" y="0"/>
                </a:moveTo>
                <a:lnTo>
                  <a:pt x="2852805" y="0"/>
                </a:lnTo>
                <a:lnTo>
                  <a:pt x="2852805" y="867606"/>
                </a:lnTo>
                <a:lnTo>
                  <a:pt x="0" y="86760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AutoShape 24" id="24"/>
          <p:cNvSpPr/>
          <p:nvPr/>
        </p:nvSpPr>
        <p:spPr>
          <a:xfrm>
            <a:off x="1028700" y="418466"/>
            <a:ext cx="47197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7628972" y="5109368"/>
            <a:ext cx="0" cy="4533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591415" y="437516"/>
            <a:ext cx="0" cy="4533042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12539511" y="9679941"/>
            <a:ext cx="4719789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12237709" y="8479953"/>
            <a:ext cx="5690208" cy="967740"/>
            <a:chOff x="0" y="0"/>
            <a:chExt cx="7586944" cy="1290320"/>
          </a:xfrm>
        </p:grpSpPr>
        <p:sp>
          <p:nvSpPr>
            <p:cNvPr name="TextBox 29" id="29"/>
            <p:cNvSpPr txBox="true"/>
            <p:nvPr/>
          </p:nvSpPr>
          <p:spPr>
            <a:xfrm rot="0">
              <a:off x="0" y="683260"/>
              <a:ext cx="7586944" cy="607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0"/>
                </a:lnSpc>
              </a:pPr>
              <a:r>
                <a:rPr lang="en-US" sz="3000" b="true">
                  <a:solidFill>
                    <a:srgbClr val="262F43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Business Intelligence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0" y="0"/>
              <a:ext cx="7586944" cy="6070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40"/>
                </a:lnSpc>
              </a:pPr>
              <a:r>
                <a:rPr lang="en-US" sz="3000" b="true">
                  <a:solidFill>
                    <a:srgbClr val="262F43"/>
                  </a:solidFill>
                  <a:latin typeface="Quicksand 1 Bold"/>
                  <a:ea typeface="Quicksand 1 Bold"/>
                  <a:cs typeface="Quicksand 1 Bold"/>
                  <a:sym typeface="Quicksand 1 Bold"/>
                </a:rPr>
                <a:t>Data Series Fair 17.0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237563" y="8197929"/>
            <a:ext cx="8230974" cy="144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443" b="true">
                <a:solidFill>
                  <a:srgbClr val="262F43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Check out my profile and project at:</a:t>
            </a:r>
          </a:p>
          <a:p>
            <a:pPr algn="l">
              <a:lnSpc>
                <a:spcPts val="2883"/>
              </a:lnSpc>
            </a:pPr>
          </a:p>
          <a:p>
            <a:pPr algn="l">
              <a:lnSpc>
                <a:spcPts val="2883"/>
              </a:lnSpc>
            </a:pPr>
            <a:r>
              <a:rPr lang="en-US" sz="2443" b="true">
                <a:solidFill>
                  <a:srgbClr val="262F43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linkedin.com/in/kaniatrihapsari17</a:t>
            </a:r>
          </a:p>
          <a:p>
            <a:pPr algn="l">
              <a:lnSpc>
                <a:spcPts val="2883"/>
              </a:lnSpc>
            </a:pPr>
            <a:r>
              <a:rPr lang="en-US" sz="2443" b="true">
                <a:solidFill>
                  <a:srgbClr val="262F43"/>
                </a:solidFill>
                <a:latin typeface="Quicksand 1 Bold"/>
                <a:ea typeface="Quicksand 1 Bold"/>
                <a:cs typeface="Quicksand 1 Bold"/>
                <a:sym typeface="Quicksand 1 Bold"/>
              </a:rPr>
              <a:t>github.com/happ-learn/visualization-in-tableau.git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DAGebWE_hAo</dc:identifier>
  <dcterms:modified xsi:type="dcterms:W3CDTF">2011-08-01T06:04:30Z</dcterms:modified>
  <cp:revision>1</cp:revision>
  <dc:title>BUSINESS INTELLIGENCE</dc:title>
</cp:coreProperties>
</file>